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23368" autoAdjust="0"/>
  </p:normalViewPr>
  <p:slideViewPr>
    <p:cSldViewPr snapToGrid="0">
      <p:cViewPr varScale="1">
        <p:scale>
          <a:sx n="23" d="100"/>
          <a:sy n="23" d="100"/>
        </p:scale>
        <p:origin x="38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latin typeface="Arial"/>
        <a:ea typeface="Arial"/>
        <a:cs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defRPr lang="ar-SA"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8E5468-CF92-4C2D-A4C6-210E76C0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 rtl="1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3CECABD-0555-4EDC-B64A-1DF0C5DAB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 rtl="1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D51979-BA99-447E-B44F-769BEF08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 rtl="1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F220A7-7D49-445B-9F69-68585B47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02BEABA-3B3F-4CFC-A498-500C41C6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B72709C-295A-436B-9BF9-FC77B036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4CBD804-7D05-4380-A502-0B96D4788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F20F553-77A8-42AC-A121-85C8E5AB74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CFCA800-57BD-4308-836D-B4673319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115793C-0839-414A-B15C-2B67BC206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 rtl="1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r" rt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r" rtl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r" rtl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r" rtl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r" rtl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r" rtl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r" rtl="1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daiaacademy.github.io/productivity/labs/capston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hatgpt.com/plugins/plugin_0702fed6e30c819197bb5d4b86593dd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المشروع الختامي لبرنامج رفع الإنتاجية بالذكاء">
            <a:extLst>
              <a:ext uri="{FF2B5EF4-FFF2-40B4-BE49-F238E27FC236}">
                <a16:creationId xmlns:a16="http://schemas.microsoft.com/office/drawing/2014/main" id="{17D76FD9-A058-4DF9-B613-DF1EC6E65FC1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المشروع الختامي لبرنامج رفع الإنتاجية بالذكاء الاصطناعي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61F4063B-4810-4A6E-96EF-5318041F1862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مساعد مقارنة الأسعار">
            <a:extLst>
              <a:ext uri="{FF2B5EF4-FFF2-40B4-BE49-F238E27FC236}">
                <a16:creationId xmlns:a16="http://schemas.microsoft.com/office/drawing/2014/main" id="{469E5C39-B553-4E41-BA6F-9F2DE5E41D02}"/>
              </a:ext>
            </a:extLst>
          </p:cNvPr>
          <p:cNvSpPr>
            <a:spLocks noGrp="1"/>
          </p:cNvSpPr>
          <p:nvPr/>
        </p:nvSpPr>
        <p:spPr>
          <a:xfrm>
            <a:off x="4572000" y="1200150"/>
            <a:ext cx="69342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مساعد مقارنة الأسعار</a:t>
            </a:r>
          </a:p>
        </p:txBody>
      </p:sp>
      <p:sp>
        <p:nvSpPr>
          <p:cNvPr id="4" name="Product Price Finder 2">
            <a:extLst>
              <a:ext uri="{FF2B5EF4-FFF2-40B4-BE49-F238E27FC236}">
                <a16:creationId xmlns:a16="http://schemas.microsoft.com/office/drawing/2014/main" id="{D3630EB7-EE64-4011-9DD4-8D22202A3D7C}"/>
              </a:ext>
            </a:extLst>
          </p:cNvPr>
          <p:cNvSpPr>
            <a:spLocks noGrp="1"/>
          </p:cNvSpPr>
          <p:nvPr/>
        </p:nvSpPr>
        <p:spPr>
          <a:xfrm>
            <a:off x="4572000" y="2200275"/>
            <a:ext cx="6934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0">
              <a:defRPr lang="en-US" sz="25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en-US" sz="2550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Product Price Finder 2</a:t>
            </a:r>
          </a:p>
        </p:txBody>
      </p:sp>
      <p:sp>
        <p:nvSpPr>
          <p:cNvPr id="5" name="مقارنة تكلفة المنتج مع التوصيل&#10;بمصادر يمكن مر">
            <a:extLst>
              <a:ext uri="{FF2B5EF4-FFF2-40B4-BE49-F238E27FC236}">
                <a16:creationId xmlns:a16="http://schemas.microsoft.com/office/drawing/2014/main" id="{622DD622-EF42-474B-9749-156AFEC64481}"/>
              </a:ext>
            </a:extLst>
          </p:cNvPr>
          <p:cNvSpPr>
            <a:spLocks noGrp="1"/>
          </p:cNvSpPr>
          <p:nvPr/>
        </p:nvSpPr>
        <p:spPr>
          <a:xfrm>
            <a:off x="4572000" y="3162300"/>
            <a:ext cx="69342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مقارنة تكلفة المنتج مع التوصيل</a:t>
            </a:r>
          </a:p>
          <a:p>
            <a:pPr algn="r" rtl="1">
              <a:defRPr lang="ar-SA"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بمصادر يمكن مراجعتها</a:t>
            </a:r>
          </a:p>
        </p:txBody>
      </p:sp>
      <p:sp>
        <p:nvSpPr>
          <p:cNvPr id="6" name="مسار مساعد مخصّص">
            <a:extLst>
              <a:ext uri="{FF2B5EF4-FFF2-40B4-BE49-F238E27FC236}">
                <a16:creationId xmlns:a16="http://schemas.microsoft.com/office/drawing/2014/main" id="{E6C2FD2D-EDEC-4AD8-9321-D4081CEBAB91}"/>
              </a:ext>
            </a:extLst>
          </p:cNvPr>
          <p:cNvSpPr>
            <a:spLocks noGrp="1"/>
          </p:cNvSpPr>
          <p:nvPr/>
        </p:nvSpPr>
        <p:spPr>
          <a:xfrm>
            <a:off x="4572000" y="4981575"/>
            <a:ext cx="6934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8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ar-SA" sz="1875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مسار مساعد مخصّص</a:t>
            </a:r>
          </a:p>
        </p:txBody>
      </p:sp>
      <p:sp>
        <p:nvSpPr>
          <p:cNvPr id="7" name="إعداد: خالد يوسف السمنان">
            <a:extLst>
              <a:ext uri="{FF2B5EF4-FFF2-40B4-BE49-F238E27FC236}">
                <a16:creationId xmlns:a16="http://schemas.microsoft.com/office/drawing/2014/main" id="{2AD59550-1D53-4D62-A5E4-0BBA2C2A945F}"/>
              </a:ext>
            </a:extLst>
          </p:cNvPr>
          <p:cNvSpPr>
            <a:spLocks noGrp="1"/>
          </p:cNvSpPr>
          <p:nvPr/>
        </p:nvSpPr>
        <p:spPr>
          <a:xfrm>
            <a:off x="4572000" y="5495925"/>
            <a:ext cx="693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إعداد: خالد يوسف السمنان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FA02F5-2C86-4CF5-A09C-6FF1161F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76375"/>
            <a:ext cx="3619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المهمة وخط الأساس">
            <a:extLst>
              <a:ext uri="{FF2B5EF4-FFF2-40B4-BE49-F238E27FC236}">
                <a16:creationId xmlns:a16="http://schemas.microsoft.com/office/drawing/2014/main" id="{BE8582A4-023E-4AB3-B97D-54DB84F60B0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المهمة وخط الأساس</a:t>
            </a:r>
          </a:p>
        </p:txBody>
      </p:sp>
      <p:sp>
        <p:nvSpPr>
          <p:cNvPr id="2" name="القياس يبدأ من تحديد الطلب وينتهي بمقارنة راج">
            <a:extLst>
              <a:ext uri="{FF2B5EF4-FFF2-40B4-BE49-F238E27FC236}">
                <a16:creationId xmlns:a16="http://schemas.microsoft.com/office/drawing/2014/main" id="{889B25F9-5509-446B-8C17-27DB031D4CA3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القياس يبدأ من تحديد الطلب وينتهي بمقارنة راجعها المستخدم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DA30A029-C59E-4C5D-AA5B-8B9819E00DD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تحديد الموديل والمدينة">
            <a:extLst>
              <a:ext uri="{FF2B5EF4-FFF2-40B4-BE49-F238E27FC236}">
                <a16:creationId xmlns:a16="http://schemas.microsoft.com/office/drawing/2014/main" id="{61412854-F96B-4694-817D-172CC0FF0D4F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325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325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تحديد الموديل والمدينة</a:t>
            </a:r>
          </a:p>
        </p:txBody>
      </p:sp>
      <p:sp>
        <p:nvSpPr>
          <p:cNvPr id="5" name="فتح عروض المتاجر ومطابقة النسخة والحالة، ثم ح">
            <a:extLst>
              <a:ext uri="{FF2B5EF4-FFF2-40B4-BE49-F238E27FC236}">
                <a16:creationId xmlns:a16="http://schemas.microsoft.com/office/drawing/2014/main" id="{ED688773-352F-4F81-96A0-BB6AB252502D}"/>
              </a:ext>
            </a:extLst>
          </p:cNvPr>
          <p:cNvSpPr>
            <a:spLocks noGrp="1"/>
          </p:cNvSpPr>
          <p:nvPr/>
        </p:nvSpPr>
        <p:spPr>
          <a:xfrm>
            <a:off x="6858000" y="2428875"/>
            <a:ext cx="4648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25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فتح عروض المتاجر ومطابقة النسخة والحالة، ثم حساب التكلفة مع التوصيل.</a:t>
            </a:r>
          </a:p>
        </p:txBody>
      </p:sp>
      <p:sp>
        <p:nvSpPr>
          <p:cNvPr id="6" name="العمل اليدوي">
            <a:extLst>
              <a:ext uri="{FF2B5EF4-FFF2-40B4-BE49-F238E27FC236}">
                <a16:creationId xmlns:a16="http://schemas.microsoft.com/office/drawing/2014/main" id="{46F5392A-6123-4BC9-B224-2A3D6556CE70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1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2100" b="1">
                <a:solidFill>
                  <a:srgbClr val="526A67"/>
                </a:solidFill>
                <a:latin typeface="Arial"/>
                <a:ea typeface="Arial"/>
                <a:cs typeface="Arial"/>
              </a:rPr>
              <a:t>العمل اليدوي</a:t>
            </a:r>
          </a:p>
        </p:txBody>
      </p:sp>
      <p:sp>
        <p:nvSpPr>
          <p:cNvPr id="7" name="التنقل بين الصفحات والتحقق من الرسوم والبائع ">
            <a:extLst>
              <a:ext uri="{FF2B5EF4-FFF2-40B4-BE49-F238E27FC236}">
                <a16:creationId xmlns:a16="http://schemas.microsoft.com/office/drawing/2014/main" id="{D8DD30CB-7498-4CB7-B3C7-2503F02F7DA6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5334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5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55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التنقل بين الصفحات والتحقق من الرسوم والبائع وشروط الخصم.</a:t>
            </a:r>
          </a:p>
        </p:txBody>
      </p:sp>
      <p:sp>
        <p:nvSpPr>
          <p:cNvPr id="8" name="الأساس اليدوي: من ٥:٢٠ إلى ٦:٤٤ دقيقة، شامل ا">
            <a:extLst>
              <a:ext uri="{FF2B5EF4-FFF2-40B4-BE49-F238E27FC236}">
                <a16:creationId xmlns:a16="http://schemas.microsoft.com/office/drawing/2014/main" id="{CAEF9CEC-87FB-458B-8C29-7D5587D4FD22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1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الأساس اليدوي: من ٥:٢٠ إلى ٦:٤٤ دقيقة، شامل المراجعة والتصحيح</a:t>
            </a:r>
          </a:p>
        </p:txBody>
      </p:sp>
    </p:spTree>
    <p:extLst>
      <p:ext uri="{BB962C8B-B14F-4D97-AF65-F5344CB8AC3E}">
        <p14:creationId xmlns:p14="http://schemas.microsoft.com/office/powerpoint/2010/main" val="5349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سير العمل ومسؤولية كل خطوة">
            <a:extLst>
              <a:ext uri="{FF2B5EF4-FFF2-40B4-BE49-F238E27FC236}">
                <a16:creationId xmlns:a16="http://schemas.microsoft.com/office/drawing/2014/main" id="{7D8267A8-E68B-46EC-AE3C-5772BDDED1E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سير العمل ومسؤولية كل خطوة</a:t>
            </a:r>
          </a:p>
        </p:txBody>
      </p:sp>
      <p:sp>
        <p:nvSpPr>
          <p:cNvPr id="2" name="المسار المختار: مساعد مخصّص بتعليمات ثابتة قا">
            <a:extLst>
              <a:ext uri="{FF2B5EF4-FFF2-40B4-BE49-F238E27FC236}">
                <a16:creationId xmlns:a16="http://schemas.microsoft.com/office/drawing/2014/main" id="{5CA39A03-CF23-4A60-9B5C-41720A1EF55B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المسار المختار: مساعد مخصّص بتعليمات ثابتة قابلة لإعادة الاستخدام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74130A96-7421-46F6-A729-F903489F1A0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58CF06-D2B6-444C-A038-71B4EA121F52}"/>
              </a:ext>
            </a:extLst>
          </p:cNvPr>
          <p:cNvGraphicFramePr/>
          <p:nvPr/>
        </p:nvGraphicFramePr>
        <p:xfrm>
          <a:off x="685800" y="1762125"/>
          <a:ext cx="10820400" cy="3333750"/>
        </p:xfrm>
        <a:graphic>
          <a:graphicData uri="http://schemas.openxmlformats.org/drawingml/2006/table">
            <a:tbl>
              <a:tblPr rtl="1"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الخطوة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المسؤول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ما يُفحص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١  تحديد الطلب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المستخدم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الموديل والنسخة والمدينة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٢  جمع الأدلة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المساعد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الرابط والبائع والتوافر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٣  حساب ومقارنة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المساعد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التوصيل والرسوم والشروط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٤  مراجعة واعتماد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المستخدم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المصادر والقرار النهائي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تتكرر قواعد التحقق في كل طلب، لذلك تُحفظ في ا">
            <a:extLst>
              <a:ext uri="{FF2B5EF4-FFF2-40B4-BE49-F238E27FC236}">
                <a16:creationId xmlns:a16="http://schemas.microsoft.com/office/drawing/2014/main" id="{471CB04C-F11D-488E-9BB7-B87725AF8502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95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1950" b="0">
                <a:solidFill>
                  <a:srgbClr val="006E61"/>
                </a:solidFill>
                <a:latin typeface="Arial"/>
                <a:ea typeface="Arial"/>
                <a:cs typeface="Arial"/>
              </a:rPr>
              <a:t>تتكرر قواعد التحقق في كل طلب، لذلك تُحفظ في المساعد.</a:t>
            </a:r>
          </a:p>
        </p:txBody>
      </p:sp>
    </p:spTree>
    <p:extLst>
      <p:ext uri="{BB962C8B-B14F-4D97-AF65-F5344CB8AC3E}">
        <p14:creationId xmlns:p14="http://schemas.microsoft.com/office/powerpoint/2010/main" val="89374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التفويض ومعيار القبول">
            <a:extLst>
              <a:ext uri="{FF2B5EF4-FFF2-40B4-BE49-F238E27FC236}">
                <a16:creationId xmlns:a16="http://schemas.microsoft.com/office/drawing/2014/main" id="{D86BC88A-6987-4632-94BC-F1AA26E1AA4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التفويض ومعيار القبول</a:t>
            </a:r>
          </a:p>
        </p:txBody>
      </p:sp>
      <p:sp>
        <p:nvSpPr>
          <p:cNvPr id="2" name="معيار قبول مقترح للاختبار، وليس نتيجة أداء مق">
            <a:extLst>
              <a:ext uri="{FF2B5EF4-FFF2-40B4-BE49-F238E27FC236}">
                <a16:creationId xmlns:a16="http://schemas.microsoft.com/office/drawing/2014/main" id="{63F8B388-2608-4011-9401-09F36BDFF22E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معيار قبول مقترح للاختبار، وليس نتيجة أداء مقيسة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5A900048-F79A-423A-BAA0-2C80674422AC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ما أسنده للمساعد">
            <a:extLst>
              <a:ext uri="{FF2B5EF4-FFF2-40B4-BE49-F238E27FC236}">
                <a16:creationId xmlns:a16="http://schemas.microsoft.com/office/drawing/2014/main" id="{0A26CEDA-73C9-485A-9AE1-472932FF9BE7}"/>
              </a:ext>
            </a:extLst>
          </p:cNvPr>
          <p:cNvSpPr>
            <a:spLocks noGrp="1"/>
          </p:cNvSpPr>
          <p:nvPr/>
        </p:nvSpPr>
        <p:spPr>
          <a:xfrm>
            <a:off x="6667500" y="17621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ما أسنده للمساعد</a:t>
            </a:r>
          </a:p>
        </p:txBody>
      </p:sp>
      <p:sp>
        <p:nvSpPr>
          <p:cNvPr id="5" name="البحث، ومطابقة العروض، وحساب التكلفة، وإظهار ">
            <a:extLst>
              <a:ext uri="{FF2B5EF4-FFF2-40B4-BE49-F238E27FC236}">
                <a16:creationId xmlns:a16="http://schemas.microsoft.com/office/drawing/2014/main" id="{F868429A-39ED-43E3-9B43-D849630CCD5F}"/>
              </a:ext>
            </a:extLst>
          </p:cNvPr>
          <p:cNvSpPr>
            <a:spLocks noGrp="1"/>
          </p:cNvSpPr>
          <p:nvPr/>
        </p:nvSpPr>
        <p:spPr>
          <a:xfrm>
            <a:off x="6667500" y="2524125"/>
            <a:ext cx="48387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البحث، ومطابقة العروض، وحساب التكلفة، وإظهار المصادر والمعلومات الناقصة.</a:t>
            </a:r>
          </a:p>
        </p:txBody>
      </p:sp>
      <p:sp>
        <p:nvSpPr>
          <p:cNvPr id="6" name="ما يبقى لي">
            <a:extLst>
              <a:ext uri="{FF2B5EF4-FFF2-40B4-BE49-F238E27FC236}">
                <a16:creationId xmlns:a16="http://schemas.microsoft.com/office/drawing/2014/main" id="{D5DB07B6-1485-4448-9636-8348E6ECD5E6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ما يبقى لي</a:t>
            </a:r>
          </a:p>
        </p:txBody>
      </p:sp>
      <p:sp>
        <p:nvSpPr>
          <p:cNvPr id="7" name="فتح المصادر، وتأكيد صلاحية الشروط، ومراجعة ال">
            <a:extLst>
              <a:ext uri="{FF2B5EF4-FFF2-40B4-BE49-F238E27FC236}">
                <a16:creationId xmlns:a16="http://schemas.microsoft.com/office/drawing/2014/main" id="{4CF3949C-66DA-42C7-B0ED-F823183ADFB8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51435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فتح المصادر، وتأكيد صلاحية الشروط، ومراجعة الحساب، واتخاذ قرار الشراء.</a:t>
            </a:r>
          </a:p>
        </p:txBody>
      </p:sp>
      <p:sp>
        <p:nvSpPr>
          <p:cNvPr id="8" name="صفر اختلافات في الموديل، ومصدر لكل عرض، وصفر ">
            <a:extLst>
              <a:ext uri="{FF2B5EF4-FFF2-40B4-BE49-F238E27FC236}">
                <a16:creationId xmlns:a16="http://schemas.microsoft.com/office/drawing/2014/main" id="{66E5351A-7812-46EA-9BDE-566A17FCE656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صفر اختلافات في الموديل، ومصدر لكل عرض، وصفر رسوم مجهولة تُعامل كأنها مجانية.</a:t>
            </a:r>
          </a:p>
        </p:txBody>
      </p:sp>
    </p:spTree>
    <p:extLst>
      <p:ext uri="{BB962C8B-B14F-4D97-AF65-F5344CB8AC3E}">
        <p14:creationId xmlns:p14="http://schemas.microsoft.com/office/powerpoint/2010/main" val="204442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التجربة الحية">
            <a:extLst>
              <a:ext uri="{FF2B5EF4-FFF2-40B4-BE49-F238E27FC236}">
                <a16:creationId xmlns:a16="http://schemas.microsoft.com/office/drawing/2014/main" id="{A88024A0-4EA9-479A-9468-908913B6C3D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التجربة الحية</a:t>
            </a:r>
          </a:p>
        </p:txBody>
      </p:sp>
      <p:sp>
        <p:nvSpPr>
          <p:cNvPr id="2" name="دقيقتان للتجربة أمام الحضور">
            <a:extLst>
              <a:ext uri="{FF2B5EF4-FFF2-40B4-BE49-F238E27FC236}">
                <a16:creationId xmlns:a16="http://schemas.microsoft.com/office/drawing/2014/main" id="{C6450CCA-0DCE-4F9C-AD2D-58BA8901294A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دقيقتان للتجربة أمام الحضور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1A35D79C-391F-4013-ADEA-3F40F0383405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طلب محدد">
            <a:extLst>
              <a:ext uri="{FF2B5EF4-FFF2-40B4-BE49-F238E27FC236}">
                <a16:creationId xmlns:a16="http://schemas.microsoft.com/office/drawing/2014/main" id="{38EEC984-4CB4-4C55-AD6E-EAD97A0AC8B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025" b="1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ar-SA" sz="2025" b="1">
                <a:solidFill>
                  <a:srgbClr val="A9D8C7"/>
                </a:solidFill>
                <a:latin typeface="Arial"/>
                <a:ea typeface="Arial"/>
                <a:cs typeface="Arial"/>
              </a:rPr>
              <a:t>طلب محدد</a:t>
            </a:r>
          </a:p>
        </p:txBody>
      </p:sp>
      <p:sp>
        <p:nvSpPr>
          <p:cNvPr id="5" name="قارن عروض سماعة سوني">
            <a:extLst>
              <a:ext uri="{FF2B5EF4-FFF2-40B4-BE49-F238E27FC236}">
                <a16:creationId xmlns:a16="http://schemas.microsoft.com/office/drawing/2014/main" id="{D518E16F-F1AD-4717-9814-7E1092FF1B78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قارن عروض سماعة سوني</a:t>
            </a:r>
          </a:p>
        </p:txBody>
      </p:sp>
      <p:sp>
        <p:nvSpPr>
          <p:cNvPr id="6" name="WH-1000XM5">
            <a:extLst>
              <a:ext uri="{FF2B5EF4-FFF2-40B4-BE49-F238E27FC236}">
                <a16:creationId xmlns:a16="http://schemas.microsoft.com/office/drawing/2014/main" id="{7EBCD4DD-5D68-474B-BB93-56D608E3B318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0">
              <a:defRPr lang="en-US"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WH-1000XM5</a:t>
            </a:r>
          </a:p>
        </p:txBody>
      </p:sp>
      <p:sp>
        <p:nvSpPr>
          <p:cNvPr id="7" name="سوداء، جديدة، قطعة واحدة، مع التوصيل إلى الري">
            <a:extLst>
              <a:ext uri="{FF2B5EF4-FFF2-40B4-BE49-F238E27FC236}">
                <a16:creationId xmlns:a16="http://schemas.microsoft.com/office/drawing/2014/main" id="{751B9B83-0356-4491-A9AA-AB73879B1A15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سوداء، جديدة، قطعة واحدة، مع التوصيل إلى الرياض</a:t>
            </a:r>
          </a:p>
        </p:txBody>
      </p:sp>
      <p:sp>
        <p:nvSpPr>
          <p:cNvPr id="8" name="ثم أراجع رابطًا وحسابًا، وأختبر عرضًا برسوم ت">
            <a:extLst>
              <a:ext uri="{FF2B5EF4-FFF2-40B4-BE49-F238E27FC236}">
                <a16:creationId xmlns:a16="http://schemas.microsoft.com/office/drawing/2014/main" id="{920D85A7-AF92-4645-A8C8-F8A22A1771BC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75" b="0">
                <a:solidFill>
                  <a:srgbClr val="A9D8C7"/>
                </a:solidFill>
                <a:latin typeface="Arial"/>
                <a:ea typeface="Arial"/>
                <a:cs typeface="Arial"/>
              </a:defRPr>
            </a:pPr>
            <a:r>
              <a:rPr lang="ar-SA" sz="2175" b="0">
                <a:solidFill>
                  <a:srgbClr val="A9D8C7"/>
                </a:solidFill>
                <a:latin typeface="Arial"/>
                <a:ea typeface="Arial"/>
                <a:cs typeface="Arial"/>
              </a:rPr>
              <a:t>ثم أراجع رابطًا وحسابًا، وأختبر عرضًا برسوم توصيل مجهولة.</a:t>
            </a:r>
          </a:p>
        </p:txBody>
      </p:sp>
    </p:spTree>
    <p:extLst>
      <p:ext uri="{BB962C8B-B14F-4D97-AF65-F5344CB8AC3E}">
        <p14:creationId xmlns:p14="http://schemas.microsoft.com/office/powerpoint/2010/main" val="125412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قارنة الزمن المبلّغ عنه">
            <a:extLst>
              <a:ext uri="{FF2B5EF4-FFF2-40B4-BE49-F238E27FC236}">
                <a16:creationId xmlns:a16="http://schemas.microsoft.com/office/drawing/2014/main" id="{A66B079B-55F4-46D0-9687-24511FEDB01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مقارنة الزمن المبلّغ عنه</a:t>
            </a:r>
          </a:p>
        </p:txBody>
      </p:sp>
      <p:sp>
        <p:nvSpPr>
          <p:cNvPr id="2" name="نطاقات تقريبية أبلغ بها المشارك، وتشمل المراج">
            <a:extLst>
              <a:ext uri="{FF2B5EF4-FFF2-40B4-BE49-F238E27FC236}">
                <a16:creationId xmlns:a16="http://schemas.microsoft.com/office/drawing/2014/main" id="{39BE6382-F0FF-4575-950A-7524DA2F18CC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نطاقات تقريبية أبلغ بها المشارك، وتشمل المراجعة والتصحيح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76B73F12-A357-43E1-A0E7-CEBD67C07F65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1053CE-4E60-44EE-A47C-BA4719E379BB}"/>
              </a:ext>
            </a:extLst>
          </p:cNvPr>
          <p:cNvGraphicFramePr/>
          <p:nvPr/>
        </p:nvGraphicFramePr>
        <p:xfrm>
          <a:off x="685800" y="1828800"/>
          <a:ext cx="10820400" cy="2857500"/>
        </p:xfrm>
        <a:graphic>
          <a:graphicData uri="http://schemas.openxmlformats.org/drawingml/2006/table">
            <a:tbl>
              <a:tblPr rtl="1"/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الطريقة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الزمن بالدقائق والثواني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المراجعة والتصحيح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بحث يدوي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من ٥:٢٠ إلى ٦:٤٤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ضمن الوقت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ذكاء اصطناعي عام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من ١:٥٢ إلى ٢:٢٥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ضمن الوقت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المساعد المخصّص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من ٠:٤٨ إلى ١:٣٥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025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ضمن الوقت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التوفير المستنتج لكل مهمة: من ٣:٤٥ إلى ٥:٥٦ د">
            <a:extLst>
              <a:ext uri="{FF2B5EF4-FFF2-40B4-BE49-F238E27FC236}">
                <a16:creationId xmlns:a16="http://schemas.microsoft.com/office/drawing/2014/main" id="{3EF4697E-C068-4EAA-9ACF-EA3EE35CE610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التوفير المستنتج لكل مهمة: من ٣:٤٥ إلى ٥:٥٦ دقيقة</a:t>
            </a:r>
          </a:p>
        </p:txBody>
      </p:sp>
    </p:spTree>
    <p:extLst>
      <p:ext uri="{BB962C8B-B14F-4D97-AF65-F5344CB8AC3E}">
        <p14:creationId xmlns:p14="http://schemas.microsoft.com/office/powerpoint/2010/main" val="138912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الضوابط وخطة ٣٠ يومًا">
            <a:extLst>
              <a:ext uri="{FF2B5EF4-FFF2-40B4-BE49-F238E27FC236}">
                <a16:creationId xmlns:a16="http://schemas.microsoft.com/office/drawing/2014/main" id="{494919D6-9D45-4040-BCA6-90243869AD6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الضوابط وخطة ٣٠ يومًا</a:t>
            </a:r>
          </a:p>
        </p:txBody>
      </p:sp>
      <p:sp>
        <p:nvSpPr>
          <p:cNvPr id="2" name="الاستمرار مشروط بتوفير وقت مثبت مع الحفاظ على">
            <a:extLst>
              <a:ext uri="{FF2B5EF4-FFF2-40B4-BE49-F238E27FC236}">
                <a16:creationId xmlns:a16="http://schemas.microsoft.com/office/drawing/2014/main" id="{150A670F-13F8-4B80-84CA-3289C799E787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الاستمرار مشروط بتوفير وقت مثبت مع الحفاظ على جودة التحقق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EAEFDF22-30A1-4854-825F-158373212F30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خطر القرار الخاطئ">
            <a:extLst>
              <a:ext uri="{FF2B5EF4-FFF2-40B4-BE49-F238E27FC236}">
                <a16:creationId xmlns:a16="http://schemas.microsoft.com/office/drawing/2014/main" id="{B390F64B-4C7B-4DBC-8F40-5852D7901A47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64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خطر القرار الخاطئ</a:t>
            </a:r>
          </a:p>
        </p:txBody>
      </p:sp>
      <p:sp>
        <p:nvSpPr>
          <p:cNvPr id="5" name="سعر قديم أو نسخة مختلفة أو تكلفة توصيل ناقصة.">
            <a:extLst>
              <a:ext uri="{FF2B5EF4-FFF2-40B4-BE49-F238E27FC236}">
                <a16:creationId xmlns:a16="http://schemas.microsoft.com/office/drawing/2014/main" id="{E5C6B4CD-1526-4D44-8243-E1598091DD6A}"/>
              </a:ext>
            </a:extLst>
          </p:cNvPr>
          <p:cNvSpPr>
            <a:spLocks noGrp="1"/>
          </p:cNvSpPr>
          <p:nvPr/>
        </p:nvSpPr>
        <p:spPr>
          <a:xfrm>
            <a:off x="6858000" y="2409825"/>
            <a:ext cx="46482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325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سعر قديم أو نسخة مختلفة أو تكلفة توصيل ناقصة.</a:t>
            </a:r>
          </a:p>
        </p:txBody>
      </p:sp>
      <p:sp>
        <p:nvSpPr>
          <p:cNvPr id="6" name="الضابط">
            <a:extLst>
              <a:ext uri="{FF2B5EF4-FFF2-40B4-BE49-F238E27FC236}">
                <a16:creationId xmlns:a16="http://schemas.microsoft.com/office/drawing/2014/main" id="{181524EF-D8F7-42CA-AD39-F0234CB6E76A}"/>
              </a:ext>
            </a:extLst>
          </p:cNvPr>
          <p:cNvSpPr>
            <a:spLocks noGrp="1"/>
          </p:cNvSpPr>
          <p:nvPr/>
        </p:nvSpPr>
        <p:spPr>
          <a:xfrm>
            <a:off x="6858000" y="3886200"/>
            <a:ext cx="4648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الضابط</a:t>
            </a:r>
          </a:p>
        </p:txBody>
      </p:sp>
      <p:sp>
        <p:nvSpPr>
          <p:cNvPr id="7" name="مراجعة المصادر، وإظهار المجهول، وإبقاء الشراء">
            <a:extLst>
              <a:ext uri="{FF2B5EF4-FFF2-40B4-BE49-F238E27FC236}">
                <a16:creationId xmlns:a16="http://schemas.microsoft.com/office/drawing/2014/main" id="{4B390C1A-77E1-4DF4-864F-6594F9776C03}"/>
              </a:ext>
            </a:extLst>
          </p:cNvPr>
          <p:cNvSpPr>
            <a:spLocks noGrp="1"/>
          </p:cNvSpPr>
          <p:nvPr/>
        </p:nvSpPr>
        <p:spPr>
          <a:xfrm>
            <a:off x="6858000" y="4467225"/>
            <a:ext cx="46482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25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مراجعة المصادر، وإظهار المجهول، وإبقاء الشراء بيد المستخدم.</a:t>
            </a:r>
          </a:p>
        </p:txBody>
      </p:sp>
      <p:sp>
        <p:nvSpPr>
          <p:cNvPr id="8" name="اليوم الأول">
            <a:extLst>
              <a:ext uri="{FF2B5EF4-FFF2-40B4-BE49-F238E27FC236}">
                <a16:creationId xmlns:a16="http://schemas.microsoft.com/office/drawing/2014/main" id="{FF6B476F-E732-4EB4-90FF-D8B480CCC444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اليوم الأول</a:t>
            </a:r>
          </a:p>
        </p:txBody>
      </p:sp>
      <p:sp>
        <p:nvSpPr>
          <p:cNvPr id="9" name="توثيق القياسات وإتمام تجربة ثانية بالمساعد.">
            <a:extLst>
              <a:ext uri="{FF2B5EF4-FFF2-40B4-BE49-F238E27FC236}">
                <a16:creationId xmlns:a16="http://schemas.microsoft.com/office/drawing/2014/main" id="{07F49FF5-5448-4EB6-B05D-0F6CAC2BCBD1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توثيق القياسات وإتمام تجربة ثانية بالمساعد.</a:t>
            </a:r>
          </a:p>
        </p:txBody>
      </p:sp>
      <p:sp>
        <p:nvSpPr>
          <p:cNvPr id="10" name="الأسبوع الأول">
            <a:extLst>
              <a:ext uri="{FF2B5EF4-FFF2-40B4-BE49-F238E27FC236}">
                <a16:creationId xmlns:a16="http://schemas.microsoft.com/office/drawing/2014/main" id="{5BD5A394-2C55-4BE1-A733-D95F0F6ACD7E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الأسبوع الأول</a:t>
            </a:r>
          </a:p>
        </p:txBody>
      </p:sp>
      <p:sp>
        <p:nvSpPr>
          <p:cNvPr id="11" name="اختبار الحالات الثلاث ومراجعة زميل.">
            <a:extLst>
              <a:ext uri="{FF2B5EF4-FFF2-40B4-BE49-F238E27FC236}">
                <a16:creationId xmlns:a16="http://schemas.microsoft.com/office/drawing/2014/main" id="{11BC1979-0D6B-4DC2-A976-257380EA2BC2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اختبار الحالات الثلاث ومراجعة زميل.</a:t>
            </a:r>
          </a:p>
        </p:txBody>
      </p:sp>
      <p:sp>
        <p:nvSpPr>
          <p:cNvPr id="12" name="اليوم الثلاثون">
            <a:extLst>
              <a:ext uri="{FF2B5EF4-FFF2-40B4-BE49-F238E27FC236}">
                <a16:creationId xmlns:a16="http://schemas.microsoft.com/office/drawing/2014/main" id="{1EA8EC3C-4760-4C2F-B503-BB36957640FE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2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اليوم الثلاثون</a:t>
            </a:r>
          </a:p>
        </p:txBody>
      </p:sp>
      <p:sp>
        <p:nvSpPr>
          <p:cNvPr id="13" name="مراجعة السجل واتخاذ قرار الاستمرار أو التعديل">
            <a:extLst>
              <a:ext uri="{FF2B5EF4-FFF2-40B4-BE49-F238E27FC236}">
                <a16:creationId xmlns:a16="http://schemas.microsoft.com/office/drawing/2014/main" id="{D435C518-FA17-4AC5-A17C-B5BC03677013}"/>
              </a:ext>
            </a:extLst>
          </p:cNvPr>
          <p:cNvSpPr>
            <a:spLocks noGrp="1"/>
          </p:cNvSpPr>
          <p:nvPr/>
        </p:nvSpPr>
        <p:spPr>
          <a:xfrm>
            <a:off x="685800" y="4962525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100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مراجعة السجل واتخاذ قرار الاستمرار أو التعديل.</a:t>
            </a:r>
          </a:p>
        </p:txBody>
      </p:sp>
    </p:spTree>
    <p:extLst>
      <p:ext uri="{BB962C8B-B14F-4D97-AF65-F5344CB8AC3E}">
        <p14:creationId xmlns:p14="http://schemas.microsoft.com/office/powerpoint/2010/main" val="172999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لحق الاختبارات الثلاثة">
            <a:extLst>
              <a:ext uri="{FF2B5EF4-FFF2-40B4-BE49-F238E27FC236}">
                <a16:creationId xmlns:a16="http://schemas.microsoft.com/office/drawing/2014/main" id="{2B4CB66C-3051-4C14-8D4A-C81491B8D16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ملحق الاختبارات الثلاثة</a:t>
            </a:r>
          </a:p>
        </p:txBody>
      </p:sp>
      <p:sp>
        <p:nvSpPr>
          <p:cNvPr id="2" name="هذه حالات اختبار مخططة، وتوثّق الملاحظات الفع">
            <a:extLst>
              <a:ext uri="{FF2B5EF4-FFF2-40B4-BE49-F238E27FC236}">
                <a16:creationId xmlns:a16="http://schemas.microsoft.com/office/drawing/2014/main" id="{99AB1355-D54D-4CCC-844C-DD963E5EDD43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هذه حالات اختبار مخططة، وتوثّق الملاحظات الفعلية في سجل الاختبار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3D191079-2E8E-4FAF-8B74-91042AF63969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2BA825-1DD4-46BC-B4BB-241A71F0D56F}"/>
              </a:ext>
            </a:extLst>
          </p:cNvPr>
          <p:cNvGraphicFramePr/>
          <p:nvPr/>
        </p:nvGraphicFramePr>
        <p:xfrm>
          <a:off x="685800" y="1809750"/>
          <a:ext cx="10820400" cy="3143252"/>
        </p:xfrm>
        <a:graphic>
          <a:graphicData uri="http://schemas.openxmlformats.org/drawingml/2006/table">
            <a:tbl>
              <a:tblPr rtl="1"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الحالة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المخرج المقبول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>
                      <a:solidFill>
                        <a:srgbClr val="D5E2DE"/>
                      </a:solidFill>
                      <a:prstDash val="soli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006E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نموذجية: منتج ومدينة واضحان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مطابقة دقيقة وإجمالي مؤكد بمصدر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فوضوية: موديلات وشروط متداخلة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استبعاد النسخة المختلفة والخصم غير المؤهل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حدّية: رسوم الشحن غير معروفة</a:t>
                      </a:r>
                    </a:p>
                  </a:txBody>
                  <a:tcPr anchor="ctr"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lang="ar-SA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ar-SA" sz="2100" b="0">
                          <a:solidFill>
                            <a:srgbClr val="082C2B"/>
                          </a:solidFill>
                          <a:latin typeface="Arial"/>
                          <a:ea typeface="Arial"/>
                          <a:cs typeface="Arial"/>
                        </a:rPr>
                        <a:t>إظهار النقص والامتناع عن فائز نهائي</a:t>
                      </a:r>
                    </a:p>
                  </a:txBody>
                  <a:tcPr anchor="ctr">
                    <a:lnL w="9525">
                      <a:solidFill>
                        <a:srgbClr val="D5E2DE"/>
                      </a:solidFill>
                      <a:prstDash val="solid"/>
                    </a:lnL>
                    <a:lnR w="9525">
                      <a:solidFill>
                        <a:srgbClr val="D5E2DE"/>
                      </a:solidFill>
                      <a:prstDash val="solid"/>
                    </a:lnR>
                    <a:lnT w="9525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E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أي خطأ مكتشف يُحفظ مع المدخل والرد والتعديل و">
            <a:extLst>
              <a:ext uri="{FF2B5EF4-FFF2-40B4-BE49-F238E27FC236}">
                <a16:creationId xmlns:a16="http://schemas.microsoft.com/office/drawing/2014/main" id="{A4BD5A0F-9595-4F97-81C3-DE2A1F49FD9B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00" b="0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100" b="0">
                <a:solidFill>
                  <a:srgbClr val="006E61"/>
                </a:solidFill>
                <a:latin typeface="Arial"/>
                <a:ea typeface="Arial"/>
                <a:cs typeface="Arial"/>
              </a:rPr>
              <a:t>أي خطأ مكتشف يُحفظ مع المدخل والرد والتعديل وإعادة الاختبار.</a:t>
            </a:r>
          </a:p>
        </p:txBody>
      </p:sp>
    </p:spTree>
    <p:extLst>
      <p:ext uri="{BB962C8B-B14F-4D97-AF65-F5344CB8AC3E}">
        <p14:creationId xmlns:p14="http://schemas.microsoft.com/office/powerpoint/2010/main" val="111231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لحق حدود الدليل الحالي">
            <a:extLst>
              <a:ext uri="{FF2B5EF4-FFF2-40B4-BE49-F238E27FC236}">
                <a16:creationId xmlns:a16="http://schemas.microsoft.com/office/drawing/2014/main" id="{77B22CA5-36E0-4991-9302-8CDFF30C715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ملحق حدود الدليل الحالي</a:t>
            </a:r>
          </a:p>
        </p:txBody>
      </p:sp>
      <p:sp>
        <p:nvSpPr>
          <p:cNvPr id="2" name="فحص صفحات متاجر في جلسة إعداد المشروع بتاريخ ">
            <a:extLst>
              <a:ext uri="{FF2B5EF4-FFF2-40B4-BE49-F238E27FC236}">
                <a16:creationId xmlns:a16="http://schemas.microsoft.com/office/drawing/2014/main" id="{A3235780-C062-4CDE-95BD-984BCE10CECD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فحص صفحات متاجر في جلسة إعداد المشروع بتاريخ ٢٢ أكتوبر ٢٠٢٦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80084A4D-9A2C-4B0A-B05C-8AA477CF51C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السعر الظاهر وحده لا يحسم المقارنة">
            <a:extLst>
              <a:ext uri="{FF2B5EF4-FFF2-40B4-BE49-F238E27FC236}">
                <a16:creationId xmlns:a16="http://schemas.microsoft.com/office/drawing/2014/main" id="{66EF1F72-6217-4593-A0FF-A163D64AEEC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85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85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السعر الظاهر وحده لا يحسم المقارنة</a:t>
            </a:r>
          </a:p>
        </p:txBody>
      </p:sp>
      <p:sp>
        <p:nvSpPr>
          <p:cNvPr id="5" name="أظهر الفحص أسعارًا للمنتج، لكن تكلفة التوصيل ">
            <a:extLst>
              <a:ext uri="{FF2B5EF4-FFF2-40B4-BE49-F238E27FC236}">
                <a16:creationId xmlns:a16="http://schemas.microsoft.com/office/drawing/2014/main" id="{32481862-4A5A-4C74-9917-795E282ECE3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6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625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أظهر الفحص أسعارًا للمنتج، لكن تكلفة التوصيل إلى الرياض لم تكتمل في الأدلة المتاحة.</a:t>
            </a:r>
          </a:p>
        </p:txBody>
      </p:sp>
      <p:sp>
        <p:nvSpPr>
          <p:cNvPr id="6" name="النتيجة: لا يوجد فائز موثّق بالتكلفة النهائية">
            <a:extLst>
              <a:ext uri="{FF2B5EF4-FFF2-40B4-BE49-F238E27FC236}">
                <a16:creationId xmlns:a16="http://schemas.microsoft.com/office/drawing/2014/main" id="{331D4E17-631D-4792-B882-9B0FE39F2640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08204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5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5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النتيجة: لا يوجد فائز موثّق بالتكلفة النهائية في هذا الفحص.</a:t>
            </a:r>
          </a:p>
        </p:txBody>
      </p:sp>
    </p:spTree>
    <p:extLst>
      <p:ext uri="{BB962C8B-B14F-4D97-AF65-F5344CB8AC3E}">
        <p14:creationId xmlns:p14="http://schemas.microsoft.com/office/powerpoint/2010/main" val="50258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المراجع وملفات المشروع">
            <a:extLst>
              <a:ext uri="{FF2B5EF4-FFF2-40B4-BE49-F238E27FC236}">
                <a16:creationId xmlns:a16="http://schemas.microsoft.com/office/drawing/2014/main" id="{23772C4D-1661-4EDA-9075-5318D3D1503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3450" b="1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المراجع وملفات المشروع</a:t>
            </a:r>
          </a:p>
        </p:txBody>
      </p:sp>
      <p:sp>
        <p:nvSpPr>
          <p:cNvPr id="2" name="مراجع أساسية للعودة إليها أثناء الأسئلة">
            <a:extLst>
              <a:ext uri="{FF2B5EF4-FFF2-40B4-BE49-F238E27FC236}">
                <a16:creationId xmlns:a16="http://schemas.microsoft.com/office/drawing/2014/main" id="{A32CD5B9-764D-434C-9514-F119F81D22C5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ar-SA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مراجع أساسية للعودة إليها أثناء الأسئلة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EDB3DDD2-913F-4B43-ABAB-AF18239520C2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 rtl="0">
              <a:def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defRPr>
            </a:pPr>
            <a:r>
              <a:rPr lang="en-US" sz="1350" b="0">
                <a:solidFill>
                  <a:srgbClr val="526A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الدليل الرسمي للمشروع الختامي">
            <a:extLst>
              <a:ext uri="{FF2B5EF4-FFF2-40B4-BE49-F238E27FC236}">
                <a16:creationId xmlns:a16="http://schemas.microsoft.com/office/drawing/2014/main" id="{0BD85E33-135F-47D1-8787-DD70CDFB5E2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الدليل الرسمي للمشروع الختامي</a:t>
            </a:r>
          </a:p>
        </p:txBody>
      </p:sp>
      <p:sp>
        <p:nvSpPr>
          <p:cNvPr id="5" name="لوحة المشروع ومعايير التقييم وخطة العرض">
            <a:extLst>
              <a:ext uri="{FF2B5EF4-FFF2-40B4-BE49-F238E27FC236}">
                <a16:creationId xmlns:a16="http://schemas.microsoft.com/office/drawing/2014/main" id="{7CE17DDA-562B-4230-8F15-F420BE176126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175" b="0">
                <a:solidFill>
                  <a:srgbClr val="082C2B"/>
                </a:solidFill>
                <a:latin typeface="Arial"/>
                <a:ea typeface="Arial"/>
                <a:cs typeface="Arial"/>
                <a:hlinkClick r:id="rId3"/>
              </a:rPr>
              <a:t>لوحة المشروع ومعايير التقييم وخطة العرض</a:t>
            </a:r>
          </a:p>
        </p:txBody>
      </p:sp>
      <p:sp>
        <p:nvSpPr>
          <p:cNvPr id="6" name="الإضافة الأصلية">
            <a:extLst>
              <a:ext uri="{FF2B5EF4-FFF2-40B4-BE49-F238E27FC236}">
                <a16:creationId xmlns:a16="http://schemas.microsoft.com/office/drawing/2014/main" id="{E9DCE56E-446C-4391-9AF4-521BDB3596B8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defRPr>
            </a:pPr>
            <a:r>
              <a:rPr lang="ar-SA" sz="2400" b="1">
                <a:solidFill>
                  <a:srgbClr val="006E61"/>
                </a:solidFill>
                <a:latin typeface="Arial"/>
                <a:ea typeface="Arial"/>
                <a:cs typeface="Arial"/>
              </a:rPr>
              <a:t>الإضافة الأصلية</a:t>
            </a:r>
          </a:p>
        </p:txBody>
      </p:sp>
      <p:sp>
        <p:nvSpPr>
          <p:cNvPr id="7" name="Product Price Finder 2">
            <a:extLst>
              <a:ext uri="{FF2B5EF4-FFF2-40B4-BE49-F238E27FC236}">
                <a16:creationId xmlns:a16="http://schemas.microsoft.com/office/drawing/2014/main" id="{3B11563F-DC96-44C3-8845-A3C336073549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0">
              <a:defRPr lang="en-US" sz="232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en-US" sz="2325" b="0">
                <a:solidFill>
                  <a:srgbClr val="082C2B"/>
                </a:solidFill>
                <a:latin typeface="Arial"/>
                <a:ea typeface="Arial"/>
                <a:cs typeface="Arial"/>
                <a:hlinkClick r:id="rId4"/>
              </a:rPr>
              <a:t>Product Price Finder 2</a:t>
            </a:r>
          </a:p>
        </p:txBody>
      </p:sp>
      <p:sp>
        <p:nvSpPr>
          <p:cNvPr id="8" name="الملفات المرفقة: لوحة المشروع، سجل القياس، ال">
            <a:extLst>
              <a:ext uri="{FF2B5EF4-FFF2-40B4-BE49-F238E27FC236}">
                <a16:creationId xmlns:a16="http://schemas.microsoft.com/office/drawing/2014/main" id="{A5389FA0-7C1D-4980-A15F-56FCF73821E2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defPPr>
            <a:lvl1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1pPr>
            <a:lvl2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2pPr>
            <a:lvl3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3pPr>
            <a:lvl4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4pPr>
            <a:lvl5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5pPr>
            <a:lvl6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6pPr>
            <a:lvl7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7pPr>
            <a:lvl8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8pPr>
            <a:lvl9pPr algn="r" rtl="1">
              <a:defRPr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>
              <a:defRPr lang="ar-SA" sz="2175" b="0">
                <a:solidFill>
                  <a:srgbClr val="082C2B"/>
                </a:solidFill>
                <a:latin typeface="Arial"/>
                <a:ea typeface="Arial"/>
                <a:cs typeface="Arial"/>
              </a:defRPr>
            </a:pPr>
            <a:r>
              <a:rPr lang="ar-SA" sz="2175" b="0">
                <a:solidFill>
                  <a:srgbClr val="082C2B"/>
                </a:solidFill>
                <a:latin typeface="Arial"/>
                <a:ea typeface="Arial"/>
                <a:cs typeface="Arial"/>
              </a:rPr>
              <a:t>الملفات المرفقة: لوحة المشروع، سجل القياس، التعليمات، الاختبارات وخطة التجربة.</a:t>
            </a:r>
          </a:p>
        </p:txBody>
      </p:sp>
    </p:spTree>
    <p:extLst>
      <p:ext uri="{BB962C8B-B14F-4D97-AF65-F5344CB8AC3E}">
        <p14:creationId xmlns:p14="http://schemas.microsoft.com/office/powerpoint/2010/main" val="10744960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DocSecurity>0</DocSecurity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Khaled .</cp:lastModifiedBy>
  <cp:revision>1</cp:revision>
  <dcterms:created xsi:type="dcterms:W3CDTF">2026-10-22T08:25:11Z</dcterms:created>
  <dcterms:modified xsi:type="dcterms:W3CDTF">2026-10-22T08:36:41Z</dcterms:modified>
</cp:coreProperties>
</file>